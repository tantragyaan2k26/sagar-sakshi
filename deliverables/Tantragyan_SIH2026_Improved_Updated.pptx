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'SAGAR-SAKSHI' (Sanskrit/Hindi: 'Ocean Witness') is a SUGGESTED idea title - rename freely (it appears only here and in PDF metadata). Talking point: the slide answers 'why this PS' with THE GAP: detection is mature, attribution is the bottleneck.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Diagram is native (editable) shapes, so text is machine-readable in the PDF. DECISIONS MADE FOR YOU - confirm: (1) spill model trained on Sentinel-1-compatible data (Krestenitis/MKLab); QPOSD is L-band UAVSAR quad-pol so it cannot feed a Sentinel-1 dual-pol model directly - kept as optional layer. (2) Sentinel-1 GRD has no phase, so 'complex-valued' networks need SLC data - not claimed here. (3) Drift engine shown as OpenDrift/GNOME with CMEMS/HYCOM + ERA5 forcing. If you have a working prototype or dashboard screenshot, replace the 'Sample output' card with it.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Risks are shown next to their mitigation (what winning SIH 2025 decks do). Feasibility is split into technical / data / operational / economic. The QPOSD risk (L-band UAVSAR over Gulf of Mexico, 41 scenes) was verified from the Data in Brief paper.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four numbers are DESIGN TARGETS / METRICS, not results - do not present them as achieved. Replace with measured values as soon as the prototype produces them (winning decks show one number with working). '≤ 5 shortlist' and '&lt; 1 h' are our proposed targets; adjust to what your prototype can honestly hit.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Refs 1-6 verified against publisher / PubMed / DOAJ records (titles, venues, DOIs). Ref 7 (EMSA CleanSeaNet) is the operational precedent from your original deck. The Ennore study reports about 98% overall accuracy on ONE scene; do not cite it as general accuracy. Check: MKLab dataset access terms - confirm before claiming 'public'.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PS ID, title, theme and category character-by-character from the SIH portal page for SIH26143. Sources disagree on the theme (Space Technology vs Disaster Management) - confirm on the official portal. Replace the yellow Team ID text with your real Team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00000" cy="207645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2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5989320" cy="3840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1F497D"/>
                </a:solidFill>
                <a:latin typeface="Arial"/>
              </a:rPr>
              <a:t>Problem Statement ID – </a:t>
            </a:r>
            <a:r>
              <a:rPr sz="2000" b="0">
                <a:solidFill>
                  <a:srgbClr val="1B2A3A"/>
                </a:solidFill>
                <a:latin typeface="Arial"/>
              </a:rPr>
              <a:t>SIH26143</a:t>
            </a:r>
          </a:p>
          <a:p>
            <a:pPr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1F497D"/>
                </a:solidFill>
                <a:latin typeface="Arial"/>
              </a:rPr>
              <a:t>Problem Statement Title – </a:t>
            </a:r>
            <a:r>
              <a:rPr sz="2000" b="0">
                <a:solidFill>
                  <a:srgbClr val="1B2A3A"/>
                </a:solidFill>
                <a:latin typeface="Arial"/>
              </a:rPr>
              <a:t>Leveraging satellite imagery to determine Oil spills at sea along with AIS data correlations to identify vessel responsible for the spill.</a:t>
            </a:r>
          </a:p>
          <a:p>
            <a:pPr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1F497D"/>
                </a:solidFill>
                <a:latin typeface="Arial"/>
              </a:rPr>
              <a:t>Theme – </a:t>
            </a:r>
            <a:r>
              <a:rPr sz="2000" b="0">
                <a:solidFill>
                  <a:srgbClr val="1B2A3A"/>
                </a:solidFill>
                <a:latin typeface="Arial"/>
              </a:rPr>
              <a:t>Space Technology</a:t>
            </a:r>
          </a:p>
          <a:p>
            <a:pPr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1F497D"/>
                </a:solidFill>
                <a:latin typeface="Arial"/>
              </a:rPr>
              <a:t>PS Category – </a:t>
            </a:r>
            <a:r>
              <a:rPr sz="2000" b="0">
                <a:solidFill>
                  <a:srgbClr val="1B2A3A"/>
                </a:solidFill>
                <a:latin typeface="Arial"/>
              </a:rPr>
              <a:t>Software</a:t>
            </a:r>
          </a:p>
          <a:p>
            <a:pPr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1F497D"/>
                </a:solidFill>
                <a:latin typeface="Arial"/>
              </a:rPr>
              <a:t>Team ID – </a:t>
            </a:r>
            <a:r>
              <a:rPr sz="2000" b="0">
                <a:solidFill>
                  <a:srgbClr val="1B2A3A"/>
                </a:solidFill>
                <a:highlight>
                  <a:srgbClr val="FFF200"/>
                </a:highlight>
                <a:latin typeface="Arial"/>
              </a:rPr>
              <a:t>[enter Team ID from portal]</a:t>
            </a:r>
          </a:p>
          <a:p>
            <a:pPr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1F497D"/>
                </a:solidFill>
                <a:latin typeface="Arial"/>
              </a:rPr>
              <a:t>Team Name (Registered on portal) – </a:t>
            </a:r>
            <a:r>
              <a:rPr sz="2000" b="0">
                <a:solidFill>
                  <a:srgbClr val="1B2A3A"/>
                </a:solidFill>
                <a:latin typeface="Arial"/>
              </a:rPr>
              <a:t>Tantragyan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600" b="1">
                <a:latin typeface="Times New Roman"/>
              </a:rPr>
              <a:t>IDEA TITLE: SAGAR-SAKSHI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497D"/>
                </a:solidFill>
              </a:rPr>
              <a:t>Tantragyan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33856"/>
            <a:ext cx="9326880" cy="310896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  <a:r>
              <a:rPr sz="1200" b="0" i="1">
                <a:solidFill>
                  <a:srgbClr val="56657A"/>
                </a:solidFill>
                <a:latin typeface="Arial"/>
              </a:rPr>
              <a:t>   |   Ocean Witness: SAR + AIS oil-spill attribution engine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1517904"/>
            <a:ext cx="11457432" cy="512064"/>
          </a:xfrm>
          <a:prstGeom prst="roundRect">
            <a:avLst>
              <a:gd name="adj" fmla="val 7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475488" y="1600200"/>
            <a:ext cx="960120" cy="347472"/>
          </a:xfrm>
          <a:prstGeom prst="roundRect">
            <a:avLst>
              <a:gd name="adj" fmla="val 30000"/>
            </a:avLst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THE GAP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1554480" y="1536192"/>
            <a:ext cx="10195560" cy="47548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300" b="0" i="0">
                <a:solidFill>
                  <a:srgbClr val="1B2A3A"/>
                </a:solidFill>
                <a:latin typeface="Arial"/>
              </a:rPr>
              <a:t>Slicks drift and AIS can be incomplete; coverage must be known before interpreting a missing match.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365760" y="2103120"/>
            <a:ext cx="73152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65760" y="2432304"/>
            <a:ext cx="2624328" cy="1207008"/>
          </a:xfrm>
          <a:prstGeom prst="roundRect">
            <a:avLst>
              <a:gd name="adj" fmla="val 7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Oval 15367"/>
          <p:cNvSpPr/>
          <p:nvPr/>
        </p:nvSpPr>
        <p:spPr>
          <a:xfrm>
            <a:off x="493776" y="2551176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024128" y="2487168"/>
            <a:ext cx="189280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DETECT + CLASSIFY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57200" y="3017520"/>
            <a:ext cx="2441448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Prototype: dark-pixel candidates plus heuristic look-alike checks.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3026664" y="2907792"/>
            <a:ext cx="246888" cy="292608"/>
          </a:xfrm>
          <a:prstGeom prst="rightArrow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3310128" y="2432304"/>
            <a:ext cx="2624328" cy="1207008"/>
          </a:xfrm>
          <a:prstGeom prst="roundRect">
            <a:avLst>
              <a:gd name="adj" fmla="val 7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Oval 15372"/>
          <p:cNvSpPr/>
          <p:nvPr/>
        </p:nvSpPr>
        <p:spPr>
          <a:xfrm>
            <a:off x="3438144" y="2551176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3968496" y="2487168"/>
            <a:ext cx="189280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FIND EVERY SHIP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3401568" y="3017520"/>
            <a:ext cx="2441448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An experimental bright-target detector proposes SAR ship candidates.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5971032" y="2907792"/>
            <a:ext cx="246888" cy="292608"/>
          </a:xfrm>
          <a:prstGeom prst="rightArrow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6254496" y="2432304"/>
            <a:ext cx="2624328" cy="1207008"/>
          </a:xfrm>
          <a:prstGeom prst="roundRect">
            <a:avLst>
              <a:gd name="adj" fmla="val 7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Oval 15377"/>
          <p:cNvSpPr/>
          <p:nvPr/>
        </p:nvSpPr>
        <p:spPr>
          <a:xfrm>
            <a:off x="6382512" y="2551176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6912864" y="2487168"/>
            <a:ext cx="189280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250" b="1" i="0">
                <a:solidFill>
                  <a:srgbClr val="1F497D"/>
                </a:solidFill>
                <a:latin typeface="Arial"/>
              </a:rPr>
              <a:t>TRACE THE DRIFT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345936" y="3017520"/>
            <a:ext cx="2441448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Custom drift approximation with constant configured forcing.</a:t>
            </a:r>
          </a:p>
        </p:txBody>
      </p:sp>
      <p:sp>
        <p:nvSpPr>
          <p:cNvPr id="15381" name="Right Arrow 15380"/>
          <p:cNvSpPr/>
          <p:nvPr/>
        </p:nvSpPr>
        <p:spPr>
          <a:xfrm>
            <a:off x="8915400" y="2907792"/>
            <a:ext cx="246888" cy="292608"/>
          </a:xfrm>
          <a:prstGeom prst="rightArrow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ounded Rectangle 15381"/>
          <p:cNvSpPr/>
          <p:nvPr/>
        </p:nvSpPr>
        <p:spPr>
          <a:xfrm>
            <a:off x="9198864" y="2432304"/>
            <a:ext cx="2624328" cy="1207008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Oval 15382"/>
          <p:cNvSpPr/>
          <p:nvPr/>
        </p:nvSpPr>
        <p:spPr>
          <a:xfrm>
            <a:off x="9326880" y="2551176"/>
            <a:ext cx="438912" cy="438912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9857232" y="2487168"/>
            <a:ext cx="189280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250" b="1" i="0">
                <a:solidFill>
                  <a:srgbClr val="1E7B45"/>
                </a:solidFill>
                <a:latin typeface="Arial"/>
              </a:rPr>
              <a:t>RANK LEADS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9290304" y="3017520"/>
            <a:ext cx="2441448" cy="713232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Hand-set evidence ratios produce a shortlist; scores are not calibrated probabilities.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365760" y="3767328"/>
            <a:ext cx="54864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365760" y="4096512"/>
            <a:ext cx="2651760" cy="274320"/>
          </a:xfrm>
          <a:prstGeom prst="roundRect">
            <a:avLst>
              <a:gd name="adj" fmla="val 15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3063240" y="4096512"/>
            <a:ext cx="2926080" cy="274320"/>
          </a:xfrm>
          <a:prstGeom prst="roundRect">
            <a:avLst>
              <a:gd name="adj" fmla="val 15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With SAGAR-SAKSHI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365760" y="4443984"/>
            <a:ext cx="2651760" cy="548640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Analyst lines up SAR, currents and AIS by hand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3063240" y="4443984"/>
            <a:ext cx="2926080" cy="54864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One chain: slick &gt; drift &gt; AIS &gt; ranked list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365760" y="5038344"/>
            <a:ext cx="2651760" cy="548640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SAR target has no AIS match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3063240" y="5038344"/>
            <a:ext cx="2926080" cy="54864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Unverified unless independent receiver-coverage evidence is available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365760" y="5632704"/>
            <a:ext cx="2651760" cy="548640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Findings are hard to defend or repeat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3063240" y="5632704"/>
            <a:ext cx="2926080" cy="54864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Evidence card + source manifest + stated uncertainty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6263640" y="3767328"/>
            <a:ext cx="54864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96" name="Oval 15395"/>
          <p:cNvSpPr/>
          <p:nvPr/>
        </p:nvSpPr>
        <p:spPr>
          <a:xfrm>
            <a:off x="6281928" y="4197096"/>
            <a:ext cx="329184" cy="329184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6693408" y="4114800"/>
            <a:ext cx="5120640" cy="5029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Twin-branch design: </a:t>
            </a:r>
            <a:r>
              <a:rPr sz="1100" b="0" i="0">
                <a:solidFill>
                  <a:srgbClr val="1B2A3A"/>
                </a:solidFill>
                <a:latin typeface="Arial"/>
              </a:rPr>
              <a:t>Separate spill and ship branches support independent evaluation.</a:t>
            </a:r>
          </a:p>
        </p:txBody>
      </p:sp>
      <p:sp>
        <p:nvSpPr>
          <p:cNvPr id="15398" name="Oval 15397"/>
          <p:cNvSpPr/>
          <p:nvPr/>
        </p:nvSpPr>
        <p:spPr>
          <a:xfrm>
            <a:off x="6281928" y="4745736"/>
            <a:ext cx="329184" cy="329184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6693408" y="4663440"/>
            <a:ext cx="5120640" cy="5029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Two-way drift check: </a:t>
            </a:r>
            <a:r>
              <a:rPr sz="1100" b="0" i="0">
                <a:solidFill>
                  <a:srgbClr val="1B2A3A"/>
                </a:solidFill>
                <a:latin typeface="Arial"/>
              </a:rPr>
              <a:t>Custom two-way drift approximation; forcing and skill remain unvalidated.</a:t>
            </a:r>
          </a:p>
        </p:txBody>
      </p:sp>
      <p:sp>
        <p:nvSpPr>
          <p:cNvPr id="15400" name="Oval 15399"/>
          <p:cNvSpPr/>
          <p:nvPr/>
        </p:nvSpPr>
        <p:spPr>
          <a:xfrm>
            <a:off x="6281928" y="5294376"/>
            <a:ext cx="329184" cy="329184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6693408" y="5212080"/>
            <a:ext cx="5120640" cy="5029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Dark-vessel logic: </a:t>
            </a:r>
            <a:r>
              <a:rPr sz="1100" b="0" i="0">
                <a:solidFill>
                  <a:srgbClr val="1B2A3A"/>
                </a:solidFill>
                <a:latin typeface="Arial"/>
              </a:rPr>
              <a:t>SAR-only targets are dark only when independent coverage evidence passes threshold.</a:t>
            </a:r>
          </a:p>
        </p:txBody>
      </p:sp>
      <p:sp>
        <p:nvSpPr>
          <p:cNvPr id="15402" name="Oval 15401"/>
          <p:cNvSpPr/>
          <p:nvPr/>
        </p:nvSpPr>
        <p:spPr>
          <a:xfrm>
            <a:off x="6281928" y="5843016"/>
            <a:ext cx="329184" cy="329184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6693408" y="5760720"/>
            <a:ext cx="5120640" cy="50292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Built for India: </a:t>
            </a:r>
            <a:r>
              <a:rPr sz="1100" b="0" i="0">
                <a:solidFill>
                  <a:srgbClr val="1B2A3A"/>
                </a:solidFill>
                <a:latin typeface="Arial"/>
              </a:rPr>
              <a:t>Synthetic demo inputs today; real-data replay and Indian validation are planned.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497D"/>
                </a:solidFill>
              </a:rPr>
              <a:t>Tantragyan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52144"/>
            <a:ext cx="109728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517904"/>
            <a:ext cx="1627632" cy="420624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1  INGEST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938528"/>
            <a:ext cx="1627632" cy="1783080"/>
          </a:xfrm>
          <a:prstGeom prst="roundRect">
            <a:avLst>
              <a:gd name="adj" fmla="val 5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rIns="73152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Sentinel-1 IW GRD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(one configured band in current run)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Area + time window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Synthetic AIS scenario (default)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2039112" y="2692908"/>
            <a:ext cx="246888" cy="274320"/>
          </a:xfrm>
          <a:prstGeom prst="rightArrow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2331720" y="1517904"/>
            <a:ext cx="1627632" cy="420624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2  PRE-PROCESS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331720" y="1938528"/>
            <a:ext cx="1627632" cy="1783080"/>
          </a:xfrm>
          <a:prstGeom prst="roundRect">
            <a:avLst>
              <a:gd name="adj" fmla="val 5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rIns="73152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Load configured GeoTIFF band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No despeckling in current run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AOI crop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Synthetic 256x256 fallback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4005072" y="2692908"/>
            <a:ext cx="246888" cy="274320"/>
          </a:xfrm>
          <a:prstGeom prst="rightArrow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297680" y="1517904"/>
            <a:ext cx="1627632" cy="420624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3  TWIN BRANCH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297680" y="1938528"/>
            <a:ext cx="1627632" cy="850392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54864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A · SPILL MODEL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A3A"/>
                </a:solidFill>
                <a:latin typeface="Arial"/>
              </a:rPr>
              <a:t>Threshold + experimental synthetic-patch U-Net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297680" y="2871216"/>
            <a:ext cx="1627632" cy="850392"/>
          </a:xfrm>
          <a:prstGeom prst="roundRect">
            <a:avLst>
              <a:gd name="adj" fmla="val 6000"/>
            </a:avLst>
          </a:prstGeom>
          <a:solidFill>
            <a:srgbClr val="FDEFE3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54864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C2570C"/>
                </a:solidFill>
                <a:latin typeface="Arial"/>
              </a:rPr>
              <a:t>B · SHIP DETECTOR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A3A"/>
                </a:solidFill>
                <a:latin typeface="Arial"/>
              </a:rPr>
              <a:t>Global threshold + clustering (experimental)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5971032" y="2692908"/>
            <a:ext cx="246888" cy="274320"/>
          </a:xfrm>
          <a:prstGeom prst="rightArrow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263640" y="1517904"/>
            <a:ext cx="1627632" cy="420624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4  FUSE + DRIFT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263640" y="1938528"/>
            <a:ext cx="1627632" cy="1783080"/>
          </a:xfrm>
          <a:prstGeom prst="roundRect">
            <a:avLst>
              <a:gd name="adj" fmla="val 5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rIns="73152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Slick polygon + ship points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Custom backward/forward drift approximation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No OpenDrift or particle ensemble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Configured constant forcing (no live fetch)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7936992" y="2692908"/>
            <a:ext cx="246888" cy="274320"/>
          </a:xfrm>
          <a:prstGeom prst="rightArrow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8229600" y="1517904"/>
            <a:ext cx="1627632" cy="420624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5  AIS MATCH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229600" y="1938528"/>
            <a:ext cx="1627632" cy="1783080"/>
          </a:xfrm>
          <a:prstGeom prst="roundRect">
            <a:avLst>
              <a:gd name="adj" fmla="val 5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rIns="73152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Space-time overlap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Coverage &gt;=90% required; unknown = unverified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Speed, heading, type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9902952" y="2692908"/>
            <a:ext cx="246888" cy="274320"/>
          </a:xfrm>
          <a:prstGeom prst="rightArrow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10195560" y="1517904"/>
            <a:ext cx="1627632" cy="420624"/>
          </a:xfrm>
          <a:prstGeom prst="roundRect">
            <a:avLst>
              <a:gd name="adj" fmla="val 12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6  RANK + REPORT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10195560" y="1938528"/>
            <a:ext cx="1627632" cy="1783080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rIns="73152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Hand-set likelihood ratios + null U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Evidence card per vessel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Map dashboard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65760" y="3840480"/>
            <a:ext cx="11457432" cy="292608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>
            <a:noAutofit/>
          </a:bodyPr>
          <a:lstStyle/>
          <a:p>
            <a:pPr algn="ctr"/>
            <a:r>
              <a:rPr sz="1050" b="1" i="0">
                <a:solidFill>
                  <a:srgbClr val="1F497D"/>
                </a:solidFill>
                <a:latin typeface="Arial"/>
              </a:rPr>
              <a:t>Baseline: </a:t>
            </a:r>
            <a:r>
              <a:rPr sz="1050" b="0" i="0">
                <a:solidFill>
                  <a:srgbClr val="1B2A3A"/>
                </a:solidFill>
                <a:latin typeface="Arial"/>
              </a:rPr>
              <a:t>Current demo: synthetic AIS; SAR file optional.   </a:t>
            </a:r>
            <a:r>
              <a:rPr sz="1050" b="1" i="0">
                <a:solidFill>
                  <a:srgbClr val="1F497D"/>
                </a:solidFill>
                <a:latin typeface="Arial"/>
              </a:rPr>
              <a:t>Accuracy layer: </a:t>
            </a:r>
            <a:r>
              <a:rPr sz="1050" b="0" i="0">
                <a:solidFill>
                  <a:srgbClr val="1B2A3A"/>
                </a:solidFill>
                <a:latin typeface="Arial"/>
              </a:rPr>
              <a:t>quad-pol (QPOSD / RADARSAT-2 / ALOS-2), optional.   </a:t>
            </a:r>
            <a:r>
              <a:rPr sz="1050" b="1" i="0">
                <a:solidFill>
                  <a:srgbClr val="1F497D"/>
                </a:solidFill>
                <a:latin typeface="Arial"/>
              </a:rPr>
              <a:t>Phase 3: </a:t>
            </a:r>
            <a:r>
              <a:rPr sz="1050" b="0" i="0">
                <a:solidFill>
                  <a:srgbClr val="1B2A3A"/>
                </a:solidFill>
                <a:latin typeface="Arial"/>
              </a:rPr>
              <a:t>physics-informed (PINN) drift.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65760" y="4224528"/>
            <a:ext cx="64008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65760" y="4553712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Space data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1572768" y="4562856"/>
            <a:ext cx="1238097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Sentinel-1 GRD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884017" y="4562856"/>
            <a:ext cx="793699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ESA SNAP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750868" y="4562856"/>
            <a:ext cx="1312164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GDAL / rasterio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65760" y="489204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AI / vision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1572768" y="4901184"/>
            <a:ext cx="645566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Python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291486" y="4901184"/>
            <a:ext cx="719632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NumPy prototype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084271" y="4901184"/>
            <a:ext cx="571500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Experimental U-Net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728923" y="4901184"/>
            <a:ext cx="1164031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Pixel clustering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65760" y="523036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Ocean drift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572768" y="5239512"/>
            <a:ext cx="1460296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Planned: OpenDrift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106216" y="5239512"/>
            <a:ext cx="1830628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Planned: gridded currents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5009997" y="5239512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Planned: replay wind data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365760" y="556869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Backend + geo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1572768" y="5577840"/>
            <a:ext cx="719632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FastAPI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365552" y="5577840"/>
            <a:ext cx="1682496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Local SQLite prototype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121200" y="5577840"/>
            <a:ext cx="867765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AIS feeds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365760" y="590702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Dashboard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1572768" y="5916168"/>
            <a:ext cx="571500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Static HTML mockups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2217420" y="5916168"/>
            <a:ext cx="1682496" cy="274320"/>
          </a:xfrm>
          <a:prstGeom prst="roundRect">
            <a:avLst>
              <a:gd name="adj" fmla="val 40000"/>
            </a:avLst>
          </a:prstGeom>
          <a:solidFill>
            <a:srgbClr val="E8F1FA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/>
            <a:r>
              <a:rPr sz="1000" b="1" i="0">
                <a:solidFill>
                  <a:srgbClr val="1B2A3A"/>
                </a:solidFill>
                <a:latin typeface="Arial"/>
              </a:rPr>
              <a:t>Planned: live map layers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858000" y="4224528"/>
            <a:ext cx="496519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Illustrative synthetic output (values are not calibrated probabilities)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6858000" y="4535424"/>
            <a:ext cx="4965192" cy="1709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Oval 17452"/>
          <p:cNvSpPr/>
          <p:nvPr/>
        </p:nvSpPr>
        <p:spPr>
          <a:xfrm>
            <a:off x="6976872" y="4700016"/>
            <a:ext cx="310896" cy="310896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7360920" y="4626864"/>
            <a:ext cx="914400" cy="45720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B2A3A"/>
                </a:solidFill>
                <a:latin typeface="Arial"/>
              </a:rPr>
              <a:t>Tanker A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275320" y="4782312"/>
            <a:ext cx="1234440" cy="146304"/>
          </a:xfrm>
          <a:prstGeom prst="roundRect">
            <a:avLst>
              <a:gd name="adj" fmla="val 500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Rounded Rectangle 17455"/>
          <p:cNvSpPr/>
          <p:nvPr/>
        </p:nvSpPr>
        <p:spPr>
          <a:xfrm>
            <a:off x="8275320" y="4782312"/>
            <a:ext cx="1012240" cy="14630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9537192" y="4626864"/>
            <a:ext cx="457200" cy="45720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B2A3A"/>
                </a:solidFill>
                <a:latin typeface="Arial"/>
              </a:rPr>
              <a:t>0.82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985248" y="4626864"/>
            <a:ext cx="178308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950" b="0" i="0">
                <a:solidFill>
                  <a:srgbClr val="56657A"/>
                </a:solidFill>
                <a:latin typeface="Arial"/>
              </a:rPr>
              <a:t>Synthetic track · heuristic drift term</a:t>
            </a:r>
          </a:p>
        </p:txBody>
      </p:sp>
      <p:sp>
        <p:nvSpPr>
          <p:cNvPr id="17459" name="Oval 17458"/>
          <p:cNvSpPr/>
          <p:nvPr/>
        </p:nvSpPr>
        <p:spPr>
          <a:xfrm>
            <a:off x="6976872" y="5230368"/>
            <a:ext cx="310896" cy="310896"/>
          </a:xfrm>
          <a:prstGeom prst="ellipse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7360920" y="5157216"/>
            <a:ext cx="914400" cy="45720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B2A3A"/>
                </a:solidFill>
                <a:latin typeface="Arial"/>
              </a:rPr>
              <a:t>Cargo B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8275320" y="5312664"/>
            <a:ext cx="1234440" cy="146304"/>
          </a:xfrm>
          <a:prstGeom prst="roundRect">
            <a:avLst>
              <a:gd name="adj" fmla="val 500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Rounded Rectangle 17461"/>
          <p:cNvSpPr/>
          <p:nvPr/>
        </p:nvSpPr>
        <p:spPr>
          <a:xfrm>
            <a:off x="8275320" y="5312664"/>
            <a:ext cx="666597" cy="146304"/>
          </a:xfrm>
          <a:prstGeom prst="roundRect">
            <a:avLst>
              <a:gd name="adj" fmla="val 50000"/>
            </a:avLst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9537192" y="5157216"/>
            <a:ext cx="457200" cy="45720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B2A3A"/>
                </a:solidFill>
                <a:latin typeface="Arial"/>
              </a:rPr>
              <a:t>0.54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9985248" y="5157216"/>
            <a:ext cx="178308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950" b="0" i="0">
                <a:solidFill>
                  <a:srgbClr val="56657A"/>
                </a:solidFill>
                <a:latin typeface="Arial"/>
              </a:rPr>
              <a:t>Passed slick area 2 h earlier</a:t>
            </a:r>
          </a:p>
        </p:txBody>
      </p:sp>
      <p:sp>
        <p:nvSpPr>
          <p:cNvPr id="17465" name="Oval 17464"/>
          <p:cNvSpPr/>
          <p:nvPr/>
        </p:nvSpPr>
        <p:spPr>
          <a:xfrm>
            <a:off x="6976872" y="5760720"/>
            <a:ext cx="310896" cy="310896"/>
          </a:xfrm>
          <a:prstGeom prst="ellipse">
            <a:avLst/>
          </a:prstGeom>
          <a:solidFill>
            <a:srgbClr val="56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7360920" y="5687568"/>
            <a:ext cx="914400" cy="45720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B2A3A"/>
                </a:solidFill>
                <a:latin typeface="Arial"/>
              </a:rPr>
              <a:t>Tanker C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8275320" y="5843016"/>
            <a:ext cx="1234440" cy="146304"/>
          </a:xfrm>
          <a:prstGeom prst="roundRect">
            <a:avLst>
              <a:gd name="adj" fmla="val 50000"/>
            </a:avLst>
          </a:prstGeom>
          <a:solidFill>
            <a:srgbClr val="E1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Rounded Rectangle 17467"/>
          <p:cNvSpPr/>
          <p:nvPr/>
        </p:nvSpPr>
        <p:spPr>
          <a:xfrm>
            <a:off x="8275320" y="5843016"/>
            <a:ext cx="382676" cy="146304"/>
          </a:xfrm>
          <a:prstGeom prst="roundRect">
            <a:avLst>
              <a:gd name="adj" fmla="val 50000"/>
            </a:avLst>
          </a:prstGeom>
          <a:solidFill>
            <a:srgbClr val="56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9537192" y="5687568"/>
            <a:ext cx="457200" cy="457200"/>
          </a:xfrm>
          <a:prstGeom prst="rect">
            <a:avLst/>
          </a:prstGeom>
          <a:noFill/>
        </p:spPr>
        <p:txBody>
          <a:bodyPr wrap="square" lIns="18288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B2A3A"/>
                </a:solidFill>
                <a:latin typeface="Arial"/>
              </a:rPr>
              <a:t>0.31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9985248" y="5687568"/>
            <a:ext cx="178308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950" b="0" i="0">
                <a:solidFill>
                  <a:srgbClr val="56657A"/>
                </a:solidFill>
                <a:latin typeface="Arial"/>
              </a:rPr>
              <a:t>Heading off declared route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497D"/>
                </a:solidFill>
              </a:rPr>
              <a:t>Tantragyan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52144"/>
            <a:ext cx="3749039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99616"/>
            <a:ext cx="3749039" cy="749808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457200" y="1691639"/>
            <a:ext cx="365760" cy="365760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914400" y="1517904"/>
            <a:ext cx="3154680" cy="7132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Arial"/>
              </a:rPr>
              <a:t>Technical: </a:t>
            </a:r>
            <a:r>
              <a:rPr sz="1050" b="0" i="0">
                <a:solidFill>
                  <a:srgbClr val="1B2A3A"/>
                </a:solidFill>
                <a:latin typeface="Arial"/>
              </a:rPr>
              <a:t>Every block has published precedent: SAR segmentation, ship detection, drift, AIS matching.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322576"/>
            <a:ext cx="3749039" cy="749808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14400" y="2340864"/>
            <a:ext cx="3154680" cy="7132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Arial"/>
              </a:rPr>
              <a:t>Data: </a:t>
            </a:r>
            <a:r>
              <a:rPr sz="1050" b="0" i="0">
                <a:solidFill>
                  <a:srgbClr val="1B2A3A"/>
                </a:solidFill>
                <a:latin typeface="Arial"/>
              </a:rPr>
              <a:t>Data sources are feasible; the current demo uses synthetic AIS and constant configured forcing.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145536"/>
            <a:ext cx="3749039" cy="749808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914400" y="3163824"/>
            <a:ext cx="3154680" cy="7132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Arial"/>
              </a:rPr>
              <a:t>Operational: </a:t>
            </a:r>
            <a:r>
              <a:rPr sz="1050" b="0" i="0">
                <a:solidFill>
                  <a:srgbClr val="1B2A3A"/>
                </a:solidFill>
                <a:latin typeface="Arial"/>
              </a:rPr>
              <a:t>Prototype runs locally; deployment performance has not been measured.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3968496"/>
            <a:ext cx="3749039" cy="749808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14400" y="3986783"/>
            <a:ext cx="3154680" cy="713232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sz="1050" b="1" i="0">
                <a:solidFill>
                  <a:srgbClr val="1E7B45"/>
                </a:solidFill>
                <a:latin typeface="Arial"/>
              </a:rPr>
              <a:t>Economic: </a:t>
            </a:r>
            <a:r>
              <a:rPr sz="1050" b="0" i="0">
                <a:solidFill>
                  <a:srgbClr val="1B2A3A"/>
                </a:solidFill>
                <a:latin typeface="Arial"/>
              </a:rPr>
              <a:t>Open-source stack, no licence cost for the prototype.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343400" y="1188720"/>
            <a:ext cx="3246120" cy="292608"/>
          </a:xfrm>
          <a:prstGeom prst="roundRect">
            <a:avLst>
              <a:gd name="adj" fmla="val 15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7863840" y="1188720"/>
            <a:ext cx="3959352" cy="292608"/>
          </a:xfrm>
          <a:prstGeom prst="roundRect">
            <a:avLst>
              <a:gd name="adj" fmla="val 15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343400" y="1554480"/>
            <a:ext cx="3246120" cy="603504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Sentinel-1 revisit is days, not minutes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7616952" y="1737360"/>
            <a:ext cx="219456" cy="237744"/>
          </a:xfrm>
          <a:prstGeom prst="rightArrow">
            <a:avLst/>
          </a:prstGeom>
          <a:solidFill>
            <a:srgbClr val="56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7863840" y="1554480"/>
            <a:ext cx="3959352" cy="603504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Positioned as an investigation aid; task extra SAR passes when available.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343400" y="2212848"/>
            <a:ext cx="3246120" cy="603504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Ships can switch AIS off; free AIS covers only near-shore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7616952" y="2395728"/>
            <a:ext cx="219456" cy="237744"/>
          </a:xfrm>
          <a:prstGeom prst="rightArrow">
            <a:avLst/>
          </a:prstGeom>
          <a:solidFill>
            <a:srgbClr val="56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7863840" y="2212848"/>
            <a:ext cx="3959352" cy="603504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Require measured receiver coverage; otherwise label SAR-only targets unverified.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343400" y="2871215"/>
            <a:ext cx="3246120" cy="603504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Look-alikes and rare spill pixels confuse models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7616952" y="3054096"/>
            <a:ext cx="219456" cy="237744"/>
          </a:xfrm>
          <a:prstGeom prst="rightArrow">
            <a:avLst/>
          </a:prstGeom>
          <a:solidFill>
            <a:srgbClr val="56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7863840" y="2871215"/>
            <a:ext cx="3959352" cy="603504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Validate look-alike handling on labeled scenes across wind conditions.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343400" y="3529584"/>
            <a:ext cx="3246120" cy="603504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Public quad-pol set (QPOSD) is L-band, US Gulf, 41 scenes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7616952" y="3712464"/>
            <a:ext cx="219456" cy="237744"/>
          </a:xfrm>
          <a:prstGeom prst="rightArrow">
            <a:avLst/>
          </a:prstGeom>
          <a:solidFill>
            <a:srgbClr val="56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7863840" y="3529584"/>
            <a:ext cx="3959352" cy="603504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Train baseline on Sentinel-1 data; QPOSD optional; fine-tune on Indian scenes.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343400" y="4187952"/>
            <a:ext cx="3246120" cy="603504"/>
          </a:xfrm>
          <a:prstGeom prst="roundRect">
            <a:avLst>
              <a:gd name="adj" fmla="val 7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Drift error grows with time</a:t>
            </a:r>
          </a:p>
        </p:txBody>
      </p:sp>
      <p:sp>
        <p:nvSpPr>
          <p:cNvPr id="17438" name="Right Arrow 17437"/>
          <p:cNvSpPr/>
          <p:nvPr/>
        </p:nvSpPr>
        <p:spPr>
          <a:xfrm>
            <a:off x="7616952" y="4370832"/>
            <a:ext cx="219456" cy="237744"/>
          </a:xfrm>
          <a:prstGeom prst="rightArrow">
            <a:avLst/>
          </a:prstGeom>
          <a:solidFill>
            <a:srgbClr val="566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7863840" y="4187952"/>
            <a:ext cx="3959352" cy="603504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rIns="73152" bIns="0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Planned: evaluate drift with gridded forcing and known-source replays.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65760" y="49560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Path to deployment (smallest useful version first)</a:t>
            </a:r>
          </a:p>
        </p:txBody>
      </p:sp>
      <p:sp>
        <p:nvSpPr>
          <p:cNvPr id="17441" name="Pentagon 17440"/>
          <p:cNvSpPr/>
          <p:nvPr/>
        </p:nvSpPr>
        <p:spPr>
          <a:xfrm>
            <a:off x="365760" y="5303520"/>
            <a:ext cx="3703320" cy="32918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182880" bIns="0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PHASE 1 · Prototype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65760" y="5669280"/>
            <a:ext cx="3703320" cy="603504"/>
          </a:xfrm>
          <a:prstGeom prst="rect">
            <a:avLst/>
          </a:prstGeom>
          <a:noFill/>
        </p:spPr>
        <p:txBody>
          <a:bodyPr wrap="square" lIns="45720" tIns="18288" rIns="45720" bIns="0" anchor="t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Complete one replay with verified inputs, source labels, and end-to-end provenance.</a:t>
            </a:r>
          </a:p>
        </p:txBody>
      </p:sp>
      <p:sp>
        <p:nvSpPr>
          <p:cNvPr id="17443" name="Pentagon 17442"/>
          <p:cNvSpPr/>
          <p:nvPr/>
        </p:nvSpPr>
        <p:spPr>
          <a:xfrm>
            <a:off x="4242816" y="5303520"/>
            <a:ext cx="3703320" cy="329184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182880" bIns="0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PHASE 2 · Pilot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242816" y="5669280"/>
            <a:ext cx="3703320" cy="603504"/>
          </a:xfrm>
          <a:prstGeom prst="rect">
            <a:avLst/>
          </a:prstGeom>
          <a:noFill/>
        </p:spPr>
        <p:txBody>
          <a:bodyPr wrap="square" lIns="45720" tIns="18288" rIns="45720" bIns="0" anchor="t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Planned: validate on known-source cases and report calibration and false accusations.</a:t>
            </a:r>
          </a:p>
        </p:txBody>
      </p:sp>
      <p:sp>
        <p:nvSpPr>
          <p:cNvPr id="17445" name="Pentagon 17444"/>
          <p:cNvSpPr/>
          <p:nvPr/>
        </p:nvSpPr>
        <p:spPr>
          <a:xfrm>
            <a:off x="8119872" y="5303520"/>
            <a:ext cx="3703320" cy="329184"/>
          </a:xfrm>
          <a:prstGeom prst="homePlate">
            <a:avLst/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182880" bIns="0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PHASE 3 · Scale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119872" y="5669280"/>
            <a:ext cx="3703320" cy="603504"/>
          </a:xfrm>
          <a:prstGeom prst="rect">
            <a:avLst/>
          </a:prstGeom>
          <a:noFill/>
        </p:spPr>
        <p:txBody>
          <a:bodyPr wrap="square" lIns="45720" tIns="18288" rIns="45720" bIns="0" anchor="t">
            <a:noAutofit/>
          </a:bodyPr>
          <a:lstStyle/>
          <a:p>
            <a:pPr algn="l"/>
            <a:r>
              <a:rPr sz="1050" b="0" i="0">
                <a:solidFill>
                  <a:srgbClr val="1B2A3A"/>
                </a:solidFill>
                <a:latin typeface="Arial"/>
              </a:rPr>
              <a:t>Quad-pol accuracy layer, PINN drift, integrate with Coast Guard / INCOIS workflows.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497D"/>
                </a:solidFill>
              </a:rPr>
              <a:t>Tantragyan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52144"/>
            <a:ext cx="54864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cxnSp>
        <p:nvCxnSpPr>
          <p:cNvPr id="17411" name="Connector 17410"/>
          <p:cNvCxnSpPr/>
          <p:nvPr/>
        </p:nvCxnSpPr>
        <p:spPr>
          <a:xfrm flipH="1" flipV="1">
            <a:off x="1623060" y="2130552"/>
            <a:ext cx="1303020" cy="170992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 flipV="1">
            <a:off x="2926080" y="2130552"/>
            <a:ext cx="1394460" cy="170992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 flipH="1">
            <a:off x="1623060" y="3840480"/>
            <a:ext cx="1303020" cy="178308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2926080" y="3840480"/>
            <a:ext cx="1394460" cy="178308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Oval 17414"/>
          <p:cNvSpPr/>
          <p:nvPr/>
        </p:nvSpPr>
        <p:spPr>
          <a:xfrm>
            <a:off x="2148840" y="3063240"/>
            <a:ext cx="1554480" cy="155448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Ranked candidates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+ evidence card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1536192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38912" y="1581912"/>
            <a:ext cx="237744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497D"/>
                </a:solidFill>
                <a:latin typeface="Arial"/>
              </a:rPr>
              <a:t>Indian Coast Guard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Pollution response; custodian of the national oil-spill contingency plan. Faster suspect shortlist.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063240" y="1536192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136392" y="1581912"/>
            <a:ext cx="237744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497D"/>
                </a:solidFill>
                <a:latin typeface="Arial"/>
              </a:rPr>
              <a:t>DG Shipping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Decision support only; prototype output is not a regulatory finding.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502920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38912" y="5074920"/>
            <a:ext cx="237744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497D"/>
                </a:solidFill>
                <a:latin typeface="Arial"/>
              </a:rPr>
              <a:t>INCOIS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Potential future extension: vessel-attribution decision support.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063240" y="502920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3136392" y="5074920"/>
            <a:ext cx="2377440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497D"/>
                </a:solidFill>
                <a:latin typeface="Arial"/>
              </a:rPr>
              <a:t>NTRO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2A3A"/>
                </a:solidFill>
                <a:latin typeface="Arial"/>
              </a:rPr>
              <a:t>Coverage-aware SAR-only candidates when independent coverage data is available.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806440" y="1152144"/>
            <a:ext cx="60350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806440" y="1517904"/>
            <a:ext cx="1417320" cy="713232"/>
          </a:xfrm>
          <a:prstGeom prst="roundRect">
            <a:avLst>
              <a:gd name="adj" fmla="val 1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269480" y="1517904"/>
            <a:ext cx="4553712" cy="713232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Quicker slick vs look-alike calls speed containment and reduce harm to marine life and fisheries.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806440" y="2304288"/>
            <a:ext cx="1417320" cy="71323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269480" y="2304288"/>
            <a:ext cx="4553712" cy="713232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Smaller suspect pool speeds cost recovery and penalties; less analyst time per scene.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806440" y="3090672"/>
            <a:ext cx="1417320" cy="713232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Strategic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269480" y="3090672"/>
            <a:ext cx="4553712" cy="713232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Sharper maritime awareness along India's oil-import sea lanes (Hormuz, Malacca, Cape route).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5806440" y="3877056"/>
            <a:ext cx="1417320" cy="713232"/>
          </a:xfrm>
          <a:prstGeom prst="roundRect">
            <a:avLst>
              <a:gd name="adj" fmla="val 10000"/>
            </a:avLst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>
            <a:no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Social + Legal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269480" y="3877056"/>
            <a:ext cx="4553712" cy="713232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bIns="0">
            <a:noAutofit/>
          </a:bodyPr>
          <a:lstStyle/>
          <a:p>
            <a:pPr algn="l"/>
            <a:r>
              <a:rPr sz="1100" b="0" i="0">
                <a:solidFill>
                  <a:srgbClr val="1B2A3A"/>
                </a:solidFill>
                <a:latin typeface="Arial"/>
              </a:rPr>
              <a:t>Protects coastal livelihoods; timestamped lead list supports, not replaces, MARPOL enforcement.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806440" y="4700016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Arial"/>
              </a:rPr>
              <a:t>Proposed evaluation metrics (targets only; not yet measured)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806440" y="502920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5806440" y="5074920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0070C0"/>
                </a:solidFill>
                <a:latin typeface="Arial"/>
              </a:rPr>
              <a:t>ECE &lt;=0.05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852159" y="5623560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1B2A3A"/>
                </a:solidFill>
                <a:latin typeface="Arial"/>
              </a:rPr>
              <a:t>OSSE target; not measured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342631" y="502920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342631" y="5074920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0070C0"/>
                </a:solidFill>
                <a:latin typeface="Arial"/>
              </a:rPr>
              <a:t>FAR &lt;=5%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388352" y="5623560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1B2A3A"/>
                </a:solidFill>
                <a:latin typeface="Arial"/>
              </a:rPr>
              <a:t>OSSE target; not measured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878824" y="502920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878824" y="5074920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0070C0"/>
                </a:solidFill>
                <a:latin typeface="Arial"/>
              </a:rPr>
              <a:t>IoU / F1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924544" y="5623560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1B2A3A"/>
                </a:solidFill>
                <a:latin typeface="Arial"/>
              </a:rPr>
              <a:t>held-out labeled scenes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10415016" y="502920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10415016" y="5074920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0070C0"/>
                </a:solidFill>
                <a:latin typeface="Arial"/>
              </a:rPr>
              <a:t>Top-3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10460736" y="5623560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1B2A3A"/>
                </a:solidFill>
                <a:latin typeface="Arial"/>
              </a:rPr>
              <a:t>known-source replay hit rate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>
                <a:solidFill>
                  <a:srgbClr val="1F497D"/>
                </a:solidFill>
              </a:rPr>
              <a:t>Tantragyan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52144"/>
            <a:ext cx="6766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81328"/>
            <a:ext cx="6812280" cy="63093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457200" y="1650492"/>
            <a:ext cx="292608" cy="29260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50392" y="1499616"/>
            <a:ext cx="6309360" cy="60350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Krestenitis et al., Remote Sensing 11(15):1762 (2019)</a:t>
            </a:r>
          </a:p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Oil spill identification from satellite images using deep neural networks (Sentinel-1 VV dataset).</a:t>
            </a:r>
          </a:p>
          <a:p>
            <a:pPr algn="l"/>
            <a:r>
              <a:rPr sz="950" b="0" i="0">
                <a:solidFill>
                  <a:srgbClr val="0070C0"/>
                </a:solidFill>
                <a:latin typeface="Arial"/>
              </a:rPr>
              <a:t>mdpi.com/2072-4292/11/15/1762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167128"/>
            <a:ext cx="6812280" cy="63093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457200" y="2336291"/>
            <a:ext cx="292608" cy="29260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50392" y="2185416"/>
            <a:ext cx="6309360" cy="60350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Chaudhary &amp; Kumar (IIRS-ISRO), Scientific Reports 11:8975 (2021)</a:t>
            </a:r>
          </a:p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Dark spot detection for characterization of marine surface slicks using UAVSAR quad-pol data.</a:t>
            </a:r>
          </a:p>
          <a:p>
            <a:pPr algn="l"/>
            <a:r>
              <a:rPr sz="950" b="0" i="0">
                <a:solidFill>
                  <a:srgbClr val="0070C0"/>
                </a:solidFill>
                <a:latin typeface="Arial"/>
              </a:rPr>
              <a:t>doi.org/10.1038/s41598-021-88301-9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2852928"/>
            <a:ext cx="6812280" cy="63093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457200" y="3022091"/>
            <a:ext cx="292608" cy="29260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50392" y="2871216"/>
            <a:ext cx="6309360" cy="60350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Jamal, Sun, Li &amp; Khan, Data in Brief 66:112773 (2026)</a:t>
            </a:r>
          </a:p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QPOSD: quad-pol SAR dataset for oil spill and look-alike segmentation (L-band UAVSAR, 41 scenes).</a:t>
            </a:r>
          </a:p>
          <a:p>
            <a:pPr algn="l"/>
            <a:r>
              <a:rPr sz="950" b="0" i="0">
                <a:solidFill>
                  <a:srgbClr val="0070C0"/>
                </a:solidFill>
                <a:latin typeface="Arial"/>
              </a:rPr>
              <a:t>doi.org/10.1016/j.dib.2026.112773  ·  dataset: doi.org/10.5281/zenodo.19258036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3538728"/>
            <a:ext cx="6812280" cy="63093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Oval 17420"/>
          <p:cNvSpPr/>
          <p:nvPr/>
        </p:nvSpPr>
        <p:spPr>
          <a:xfrm>
            <a:off x="457200" y="3707891"/>
            <a:ext cx="292608" cy="29260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50392" y="3557016"/>
            <a:ext cx="6309360" cy="60350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Jamal et al., IEEE JSTARS 18:19115-19128 (2025)</a:t>
            </a:r>
          </a:p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CWCM-Net: feature fusion for oil spill detection using single- and quad-pol SAR.</a:t>
            </a:r>
          </a:p>
          <a:p>
            <a:pPr algn="l"/>
            <a:r>
              <a:rPr sz="950" b="0" i="0">
                <a:solidFill>
                  <a:srgbClr val="0070C0"/>
                </a:solidFill>
                <a:latin typeface="Arial"/>
              </a:rPr>
              <a:t>doi.org/10.1109/JSTARS.2025.3591692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4224528"/>
            <a:ext cx="6812280" cy="63093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457200" y="4393692"/>
            <a:ext cx="292608" cy="29260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50392" y="4242816"/>
            <a:ext cx="6309360" cy="60350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Marine Pollution Bulletin (2024)</a:t>
            </a:r>
          </a:p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A new ship tracing technology from oil spills based on multi-source data. Two-way drift + AIS matching.</a:t>
            </a:r>
          </a:p>
          <a:p>
            <a:pPr algn="l"/>
            <a:r>
              <a:rPr sz="950" b="0" i="0">
                <a:solidFill>
                  <a:srgbClr val="0070C0"/>
                </a:solidFill>
                <a:latin typeface="Arial"/>
              </a:rPr>
              <a:t>sciencedirect.com/science/article/abs/pii/S0025326X24007859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65760" y="4910328"/>
            <a:ext cx="6812280" cy="63093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457200" y="5079492"/>
            <a:ext cx="292608" cy="29260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50392" y="4928616"/>
            <a:ext cx="6309360" cy="60350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Marine Pollution Bulletin (2021)</a:t>
            </a:r>
          </a:p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Sentinel-1A SAR for the Ennore / Chennai 2017 tanker-collision spill (single-scene case study).</a:t>
            </a:r>
          </a:p>
          <a:p>
            <a:pPr algn="l"/>
            <a:r>
              <a:rPr sz="950" b="0" i="0">
                <a:solidFill>
                  <a:srgbClr val="0070C0"/>
                </a:solidFill>
                <a:latin typeface="Arial"/>
              </a:rPr>
              <a:t>sciencedirect.com/science/article/pii/S0025326X21012169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65760" y="5596128"/>
            <a:ext cx="6812280" cy="63093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Oval 17429"/>
          <p:cNvSpPr/>
          <p:nvPr/>
        </p:nvSpPr>
        <p:spPr>
          <a:xfrm>
            <a:off x="457200" y="5765292"/>
            <a:ext cx="292608" cy="29260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50392" y="5614416"/>
            <a:ext cx="6309360" cy="60350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Arial"/>
              </a:rPr>
              <a:t>EMSA CleanSeaNet (operational since 2007)</a:t>
            </a:r>
          </a:p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Operational SAR + AIS spill-monitoring precedent in EU waters; extended here to Indian waters.</a:t>
            </a:r>
          </a:p>
          <a:p>
            <a:pPr algn="l"/>
            <a:r>
              <a:rPr sz="950" b="0" i="0">
                <a:solidFill>
                  <a:srgbClr val="0070C0"/>
                </a:solidFill>
                <a:latin typeface="Arial"/>
              </a:rPr>
              <a:t>emsa.europa.eu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406640" y="1152144"/>
            <a:ext cx="4389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Data sources and access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406640" y="1481328"/>
            <a:ext cx="1508760" cy="274320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951976" y="1481328"/>
            <a:ext cx="1188720" cy="274320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Used for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10177272" y="1481328"/>
            <a:ext cx="1645920" cy="274320"/>
          </a:xfrm>
          <a:prstGeom prst="roundRect">
            <a:avLst>
              <a:gd name="adj" fmla="val 1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Access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7406640" y="1810512"/>
            <a:ext cx="150876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1" i="0">
                <a:solidFill>
                  <a:srgbClr val="1B2A3A"/>
                </a:solidFill>
                <a:latin typeface="Arial"/>
              </a:rPr>
              <a:t>Sentinel-1 GRD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8951976" y="1810512"/>
            <a:ext cx="118872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SAR scenes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10177272" y="1810512"/>
            <a:ext cx="1645920" cy="585216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950" b="0" i="0">
                <a:solidFill>
                  <a:srgbClr val="1B2A3A"/>
                </a:solidFill>
                <a:latin typeface="Arial"/>
              </a:rPr>
              <a:t>Free · dataspace.copernicus.eu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406640" y="2441448"/>
            <a:ext cx="150876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1" i="0">
                <a:solidFill>
                  <a:srgbClr val="1B2A3A"/>
                </a:solidFill>
                <a:latin typeface="Arial"/>
              </a:rPr>
              <a:t>MKLab oil-spill set [1]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951976" y="2441448"/>
            <a:ext cx="118872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Train spill model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0177272" y="2441448"/>
            <a:ext cx="1645920" cy="585216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950" b="0" i="0">
                <a:solidFill>
                  <a:srgbClr val="1B2A3A"/>
                </a:solidFill>
                <a:latin typeface="Arial"/>
              </a:rPr>
              <a:t>Public (see ref. 1)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406640" y="3072384"/>
            <a:ext cx="150876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1" i="0">
                <a:solidFill>
                  <a:srgbClr val="1B2A3A"/>
                </a:solidFill>
                <a:latin typeface="Arial"/>
              </a:rPr>
              <a:t>QPOSD [3]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951976" y="3072384"/>
            <a:ext cx="118872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Optional quad-pol layer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10177272" y="3072384"/>
            <a:ext cx="1645920" cy="585216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950" b="0" i="0">
                <a:solidFill>
                  <a:srgbClr val="1B2A3A"/>
                </a:solidFill>
                <a:latin typeface="Arial"/>
              </a:rPr>
              <a:t>Open (Zenodo, see ref. 3)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406640" y="3703320"/>
            <a:ext cx="150876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1" i="0">
                <a:solidFill>
                  <a:srgbClr val="1B2A3A"/>
                </a:solidFill>
                <a:latin typeface="Arial"/>
              </a:rPr>
              <a:t>CMEMS currents, ERA5 winds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951976" y="3703320"/>
            <a:ext cx="118872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Drift forcing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10177272" y="3703320"/>
            <a:ext cx="1645920" cy="585216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950" b="0" i="0">
                <a:solidFill>
                  <a:srgbClr val="1B2A3A"/>
                </a:solidFill>
                <a:latin typeface="Arial"/>
              </a:rPr>
              <a:t>Free · marine.copernicus.eu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406640" y="4334256"/>
            <a:ext cx="150876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1" i="0">
                <a:solidFill>
                  <a:srgbClr val="1B2A3A"/>
                </a:solidFill>
                <a:latin typeface="Arial"/>
              </a:rPr>
              <a:t>AIS feeds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951976" y="4334256"/>
            <a:ext cx="118872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Vessel tracks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10177272" y="4334256"/>
            <a:ext cx="1645920" cy="585216"/>
          </a:xfrm>
          <a:prstGeom prst="roundRect">
            <a:avLst>
              <a:gd name="adj" fmla="val 5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950" b="0" i="0">
                <a:solidFill>
                  <a:srgbClr val="1B2A3A"/>
                </a:solidFill>
                <a:latin typeface="Arial"/>
              </a:rPr>
              <a:t>Free tiers limited; history restricted. Demo uses public samples + synthetic tracks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7406640" y="4965192"/>
            <a:ext cx="150876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1" i="0">
                <a:solidFill>
                  <a:srgbClr val="1B2A3A"/>
                </a:solidFill>
                <a:latin typeface="Arial"/>
              </a:rPr>
              <a:t>INCOIS OOSA + Data Holdings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8951976" y="4965192"/>
            <a:ext cx="118872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Drift cross-check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10177272" y="4965192"/>
            <a:ext cx="1645920" cy="585216"/>
          </a:xfrm>
          <a:prstGeom prst="roundRect">
            <a:avLst>
              <a:gd name="adj" fmla="val 5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950" b="0" i="0">
                <a:solidFill>
                  <a:srgbClr val="1B2A3A"/>
                </a:solidFill>
                <a:latin typeface="Arial"/>
              </a:rPr>
              <a:t>Public advisory; data on request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7406640" y="5596127"/>
            <a:ext cx="150876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1" i="0">
                <a:solidFill>
                  <a:srgbClr val="1B2A3A"/>
                </a:solidFill>
                <a:latin typeface="Arial"/>
              </a:rPr>
              <a:t>ISRO Bhuvan · JAXA G-Portal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951976" y="5596127"/>
            <a:ext cx="1188720" cy="585216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1000" b="0" i="0">
                <a:solidFill>
                  <a:srgbClr val="1B2A3A"/>
                </a:solidFill>
                <a:latin typeface="Arial"/>
              </a:rPr>
              <a:t>Base layers · ALOS-2 L-band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10177272" y="5596127"/>
            <a:ext cx="1645920" cy="585216"/>
          </a:xfrm>
          <a:prstGeom prst="roundRect">
            <a:avLst>
              <a:gd name="adj" fmla="val 5000"/>
            </a:avLst>
          </a:prstGeom>
          <a:solidFill>
            <a:srgbClr val="FD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36576" bIns="0">
            <a:noAutofit/>
          </a:bodyPr>
          <a:lstStyle/>
          <a:p>
            <a:pPr algn="l"/>
            <a:r>
              <a:rPr sz="950" b="0" i="0">
                <a:solidFill>
                  <a:srgbClr val="1B2A3A"/>
                </a:solidFill>
                <a:latin typeface="Arial"/>
              </a:rPr>
              <a:t>Free / registration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SAGAR-SAKSHI: SAR + AIS Oil Spill Detection and Responsible-Vessel Attribution | SIH 2026 SIH26143</dc:title>
  <dc:subject>Smart India Hackathon 2026 - SIH26143 - Sentinel-1 SAR oil spill detection, AIS correlation, drift back-tracking, vessel ranking</dc:subject>
  <dc:creator>Team Tantragyan</dc:creator>
  <cp:keywords>oil spill, Sentinel-1, SAR, AIS, look-alike, ship detection, drift back-tracking, vessel attribution, MARPOL, NTRO, INCOIS</cp:keywords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